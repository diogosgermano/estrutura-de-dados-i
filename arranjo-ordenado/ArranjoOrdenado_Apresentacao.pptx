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9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58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50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1E2761"/>
                </a:solidFill>
                <a:latin typeface="Arial"/>
              </a:rPr>
              <a:t>Tempo médio de Inserção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Crescente (ASC)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Aleatória</c:v>
                </c:pt>
                <c:pt idx="1">
                  <c:v>Sequencial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704.17</c:v>
                </c:pt>
                <c:pt idx="1">
                  <c:v>2.58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1-41FD-B3A5-78E16BC7BC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Decrescente (DESC)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Aleatória</c:v>
                </c:pt>
                <c:pt idx="1">
                  <c:v>Sequencial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746.52</c:v>
                </c:pt>
                <c:pt idx="1">
                  <c:v>7752.99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A1-41FD-B3A5-78E16BC7BC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1E2761"/>
                </a:solidFill>
                <a:latin typeface="Arial"/>
              </a:rPr>
              <a:t>Tempo médio de Exclusão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Crescente (ASC)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Aleatória</c:v>
                </c:pt>
                <c:pt idx="1">
                  <c:v>Sequencial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859.14</c:v>
                </c:pt>
                <c:pt idx="1">
                  <c:v>306.26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85-4787-A35D-CCA73AAD22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Decrescente (DESC)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Aleatória</c:v>
                </c:pt>
                <c:pt idx="1">
                  <c:v>Sequencial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925.23</c:v>
                </c:pt>
                <c:pt idx="1">
                  <c:v>1401.22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85-4787-A35D-CCA73AAD22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72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9BDA-55DC-AE90-86CB-FD7446A3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10479-FE23-1F64-8C63-A9342B27B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00181-D9DA-E82B-66F0-1C53CDDDC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F4D8B-FDDC-D58F-1823-A288BF64B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81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Ordenado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757487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—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Exclusão Ordenada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114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2077527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Leanderson André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Diogo Soares Germano</a:t>
            </a:r>
            <a:b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144-5BN</a:t>
            </a:r>
            <a:endParaRPr lang="en-US" sz="1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061C3C1-B01F-6348-E32D-361ABB500DDA}"/>
              </a:ext>
            </a:extLst>
          </p:cNvPr>
          <p:cNvSpPr/>
          <p:nvPr/>
        </p:nvSpPr>
        <p:spPr>
          <a:xfrm>
            <a:off x="640080" y="2960817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Complexidade e Desempenho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 elementos · 100 execuções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ArranjoOrdenado?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412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39" y="1143000"/>
            <a:ext cx="8412481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99" y="1691640"/>
            <a:ext cx="7068207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 array que mantém seus elementos sempre em ordem após cada inserção ou remoção.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um array comum, onde os elementos são inseridos ao final, o arranjo ordenado realiza comparações para posicionar cada novo elemento corretamente.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— Remoção (OrderedArray)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34747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11887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96696" y="11887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286000" y="11521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OrderedArray.java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remover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numero)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posicao = -</a:t>
            </a:r>
            <a:r>
              <a:rPr lang="en-US" sz="12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 = 0; i &lt; tamanho; i++) {  </a:t>
            </a:r>
            <a:r>
              <a:rPr lang="en-US" sz="12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Busca linear O(n)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(arranjo[i] == numero) { posicao = i; break;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(posicao == -</a:t>
            </a:r>
            <a:r>
              <a:rPr lang="en-US" sz="12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return </a:t>
            </a:r>
            <a:r>
              <a:rPr lang="en-US" sz="12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 = posicao; i &lt; tamanho - </a:t>
            </a:r>
            <a:r>
              <a:rPr lang="en-US" sz="12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  </a:t>
            </a:r>
            <a:r>
              <a:rPr lang="en-US" sz="12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Desloca para esquerda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arranjo[i] = arranjo[i + </a:t>
            </a:r>
            <a:r>
              <a:rPr lang="en-US" sz="12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--;</a:t>
            </a:r>
            <a:b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pt-BR" sz="1300" dirty="0">
                <a:solidFill>
                  <a:schemeClr val="bg1"/>
                </a:solidFill>
                <a:latin typeface="Consolas" panose="020B0609020204030204" pitchFamily="49" charset="0"/>
              </a:rPr>
              <a:t>arranjo[tamanho] = 0;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2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9C27B0">
              <a:alpha val="22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remoção é compartilhada por ASC e DESC (herdada de OrderedArray) — busca linear seguida de deslocamento dos elementos.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3C32-1A2D-EE6B-372F-F9DF46FE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9E5043-06E9-24B8-2994-9B08FCEC508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7F7885-118F-7092-E00D-CDC2A435E3FC}"/>
              </a:ext>
            </a:extLst>
          </p:cNvPr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(OrderedArray)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D92B1A-B721-AE54-7ED1-7F48DACBBC91}"/>
              </a:ext>
            </a:extLst>
          </p:cNvPr>
          <p:cNvSpPr/>
          <p:nvPr/>
        </p:nvSpPr>
        <p:spPr>
          <a:xfrm>
            <a:off x="320040" y="1051560"/>
            <a:ext cx="8503920" cy="34747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2A8E549-33E3-FB11-72F2-CB83D41DF0ED}"/>
              </a:ext>
            </a:extLst>
          </p:cNvPr>
          <p:cNvSpPr/>
          <p:nvPr/>
        </p:nvSpPr>
        <p:spPr>
          <a:xfrm>
            <a:off x="502920" y="11887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1D6DCBE-F833-B4FC-90FD-A3B5A134BC15}"/>
              </a:ext>
            </a:extLst>
          </p:cNvPr>
          <p:cNvSpPr/>
          <p:nvPr/>
        </p:nvSpPr>
        <p:spPr>
          <a:xfrm>
            <a:off x="749808" y="11887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162233E-8972-E425-9C2F-1E15D32E0433}"/>
              </a:ext>
            </a:extLst>
          </p:cNvPr>
          <p:cNvSpPr/>
          <p:nvPr/>
        </p:nvSpPr>
        <p:spPr>
          <a:xfrm>
            <a:off x="996696" y="11887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0F2988-E5DA-1112-7F0A-E8D52B929778}"/>
              </a:ext>
            </a:extLst>
          </p:cNvPr>
          <p:cNvSpPr/>
          <p:nvPr/>
        </p:nvSpPr>
        <p:spPr>
          <a:xfrm>
            <a:off x="2286000" y="11521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OrderedArray.java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78B1FA-8024-5385-D0DB-78BE161AF202}"/>
              </a:ext>
            </a:extLst>
          </p:cNvPr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r>
              <a:rPr lang="en-US" sz="1250" dirty="0" err="1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percorrer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(Consumer&lt;Integer&gt; consumer)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 = 0; i &lt; tamanho; i++) {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5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consumer.accept</a:t>
            </a:r>
            <a:r>
              <a:rPr 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 err="1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arranjo</a:t>
            </a:r>
            <a:r>
              <a:rPr 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5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8EFBED-07B0-8EC5-777C-3412C709F600}"/>
              </a:ext>
            </a:extLst>
          </p:cNvPr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9C27B0">
              <a:alpha val="22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DB4EE1-E15D-C091-4361-E1A897A191C5}"/>
              </a:ext>
            </a:extLst>
          </p:cNvPr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remoção é compartilhada por ASC e DESC (herdada de OrderedArray) — busca linear seguida de deslocamento dos elementos.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6823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— Inserção Crescente (ASC)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34747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11887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96696" y="11887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286000" y="11521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OrderedArrayASC.java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inserirASC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(int... valores)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valor : valores)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 = tamanho -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Desloca elementos maiores para a direita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&gt;=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arranjo[i] &gt; valor)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arranjo[i +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arranjo[i];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i--;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arranjo[i +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valor;   </a:t>
            </a:r>
            <a:r>
              <a:rPr lang="en-US" sz="13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Insere na posição correta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tamanho++;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loop while desloca para a direita todos os elementos maiores que o valor a ser inserido, garantindo a ordem crescente.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— Inserção Decrescente (DESC)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34747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11887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96696" y="11887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286000" y="11521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OrderedArrayDESC.java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inserirDESC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(int... valores)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valor : valores)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 = tamanho -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Desloca elementos MENORES para a direita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&gt;=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arranjo[i] &lt; valor) {  </a:t>
            </a:r>
            <a:r>
              <a:rPr lang="en-US" sz="1300" dirty="0">
                <a:solidFill>
                  <a:srgbClr val="F797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única diferença!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arranjo[i +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arranjo[i];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i--;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arranjo[i +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valor;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tamanho++;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7971E">
              <a:alpha val="25000"/>
            </a:srgbClr>
          </a:solidFill>
          <a:ln w="12700">
            <a:solidFill>
              <a:srgbClr val="F797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alteração é a condição do while: '&gt;' vira '&lt;'. Isso inverte a lógica de deslocamento, mantendo a ordem decrescente.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dos Testes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659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por array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1965960" cy="73152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514600" y="106984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19842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cenário testado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1965960" cy="73152"/>
          </a:xfrm>
          <a:prstGeom prst="rect">
            <a:avLst/>
          </a:prstGeom>
          <a:solidFill>
            <a:srgbClr val="F7971E"/>
          </a:solidFill>
          <a:ln w="12700">
            <a:solidFill>
              <a:srgbClr val="F797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663440" y="106984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9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19842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testadas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12280" y="106984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nanoTime()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19842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em nanosegundos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24072"/>
            <a:ext cx="16706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avaliados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879977"/>
              </p:ext>
            </p:extLst>
          </p:nvPr>
        </p:nvGraphicFramePr>
        <p:xfrm>
          <a:off x="2138521" y="2892552"/>
          <a:ext cx="4866958" cy="1920240"/>
        </p:xfrm>
        <a:graphic>
          <a:graphicData uri="http://schemas.openxmlformats.org/drawingml/2006/table">
            <a:tbl>
              <a:tblPr/>
              <a:tblGrid>
                <a:gridCol w="77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dados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Ordenação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Inserção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(Random)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Crescente (ASC)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Inserção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(Random)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 (DESC)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Inserção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 (0..99999)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Crescente (ASC)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Inserção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 (0..99999)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 (DESC)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(Random)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Crescente (ASC)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(Random)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 (DESC)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 (0..99999)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Crescente (ASC)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 (0..99999)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 (DESC)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Inserção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005840"/>
            <a:ext cx="3017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50876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5"/>
          <p:cNvSpPr/>
          <p:nvPr/>
        </p:nvSpPr>
        <p:spPr>
          <a:xfrm>
            <a:off x="5943600" y="1508760"/>
            <a:ext cx="640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080760" y="15453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Ins.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801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704,17 ms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28600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943600" y="2286000"/>
            <a:ext cx="64008" cy="640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080760" y="23225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Ins.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578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746,52 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306324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943600" y="3063240"/>
            <a:ext cx="64008" cy="640080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080760" y="30998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Ins. Sequencial ASC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33558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 ms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0" y="384048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943600" y="3840480"/>
            <a:ext cx="64008" cy="64008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080760" y="38770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Ins. Sequencial DESC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4133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7.752,99 ms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Exclusão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005840"/>
            <a:ext cx="3017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50876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943600" y="1508760"/>
            <a:ext cx="640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080760" y="15453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Aleatória ASC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801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859,14 ms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28600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943600" y="2286000"/>
            <a:ext cx="64008" cy="640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080760" y="23225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Aleatória DESC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578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925,23 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306324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943600" y="3063240"/>
            <a:ext cx="64008" cy="640080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080760" y="30998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Sequencial ASC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33558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306,26 ms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0" y="3840480"/>
            <a:ext cx="2743200" cy="640080"/>
          </a:xfrm>
          <a:prstGeom prst="rect">
            <a:avLst/>
          </a:prstGeom>
          <a:solidFill>
            <a:srgbClr val="E8ED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943600" y="3840480"/>
            <a:ext cx="64008" cy="64008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080760" y="38770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Sequencial DESC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4133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1.401,22 ms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Resultados Completa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ASC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DESC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704,17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746,52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725,34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2.673,61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6.443,94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7.752,99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3.877,78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1.091,46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859,14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925,23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892,19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314,44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306,26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1.401,22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853,74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245,38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3520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Observações-chave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3913632"/>
            <a:ext cx="8503920" cy="475488"/>
          </a:xfrm>
          <a:prstGeom prst="rect">
            <a:avLst/>
          </a:prstGeom>
          <a:solidFill>
            <a:srgbClr val="43E97B">
              <a:alpha val="15000"/>
            </a:srgbClr>
          </a:solidFill>
          <a:ln w="12700">
            <a:solidFill>
              <a:srgbClr val="43E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394106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Sequencial ASC (2,58 ms) é ~3.000× mais rápida que DESC (7.752,99 ms) — melhor caso vs pior caso do algoritmo.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4462272"/>
            <a:ext cx="8503920" cy="475488"/>
          </a:xfrm>
          <a:prstGeom prst="rect">
            <a:avLst/>
          </a:prstGeom>
          <a:solidFill>
            <a:srgbClr val="F7971E">
              <a:alpha val="15000"/>
            </a:srgbClr>
          </a:solidFill>
          <a:ln w="12700">
            <a:solidFill>
              <a:srgbClr val="F797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448970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Padrão alto na Inserção Aleatória (DESC: 6.443 ms) indica variabilidade entre execuções — depende dos números gerados.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Resultados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91440" cy="10789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10642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Sequencial — Extremos opostos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com dados 0..99999 é o melhor caso: cada elemento é maior que todos os anteriores, o while nunca executa, resultando em O(n) total.</a:t>
            </a:r>
            <a:endParaRPr lang="en-US" sz="115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com os mesmos dados é o pior caso: cada elemento deve ser inserido na posição 0, deslocando todos os anteriores — O(n²) total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91440" cy="1078992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Aleatória — Caso médio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dados aleatórios, ambas as ordens têm comportamento semelhante (~700 ms). Em média, metade dos elementos precisa ser deslocada — O(n²/2) por inserção.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552444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0040" y="3552444"/>
            <a:ext cx="91440" cy="1078992"/>
          </a:xfrm>
          <a:prstGeom prst="rect">
            <a:avLst/>
          </a:prstGeom>
          <a:solidFill>
            <a:srgbClr val="F7971E"/>
          </a:solidFill>
          <a:ln w="12700">
            <a:solidFill>
              <a:srgbClr val="F797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8640" y="360730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— Influência da ordem no deslocamento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18204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sequencial ASC é mais rápida (306 ms): ao remover 0,1,2... os deslocamentos são menores (itens no início). DESC (1401 ms) remove do final do array crescente, causando mais movimentações.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— Diagrama UML</a:t>
            </a:r>
            <a:endParaRPr lang="en-US" sz="2600" dirty="0"/>
          </a:p>
        </p:txBody>
      </p:sp>
      <p:pic>
        <p:nvPicPr>
          <p:cNvPr id="4" name="Image 0" descr="/mnt/user-data/uploads/Arranjo-ordenadoUML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81381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1252728"/>
            <a:ext cx="475488" cy="47548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94944" y="12710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252728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usar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binária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mas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81381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85800" y="2167128"/>
            <a:ext cx="475488" cy="475488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94944" y="21854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2167128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dos dados de entrada impacta drasticamente o tempo: inserção sequencial ASC (2,58 ms) vs DESC (7.752 ms) — diferença de ~3.000×.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81381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85800" y="3081528"/>
            <a:ext cx="475488" cy="475488"/>
          </a:xfrm>
          <a:prstGeom prst="ellipse">
            <a:avLst/>
          </a:prstGeom>
          <a:solidFill>
            <a:srgbClr val="F7971E"/>
          </a:solidFill>
          <a:ln w="12700">
            <a:solidFill>
              <a:srgbClr val="F797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94944" y="30998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3081528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aleatórios tendem ao caso médio, com tempos similares entre ASC e DESC (~700-925 ms), independente da ordem do array.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" y="40142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61872" y="3995928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1084</Words>
  <Application>Microsoft Office PowerPoint</Application>
  <PresentationFormat>Apresentação na tela (16:9)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ArranjoOrdenado - Estrutura de Dados</dc:title>
  <dc:subject>PptxGenJS Presentation</dc:subject>
  <dc:creator>PptxGenJS</dc:creator>
  <cp:lastModifiedBy>Diogo Soares Germano</cp:lastModifiedBy>
  <cp:revision>4</cp:revision>
  <dcterms:created xsi:type="dcterms:W3CDTF">2026-03-09T13:48:30Z</dcterms:created>
  <dcterms:modified xsi:type="dcterms:W3CDTF">2026-03-09T21:07:51Z</dcterms:modified>
</cp:coreProperties>
</file>